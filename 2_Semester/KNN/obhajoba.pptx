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9E0"/>
    <a:srgbClr val="4D4D4D"/>
    <a:srgbClr val="FE000C"/>
    <a:srgbClr val="B9000C"/>
    <a:srgbClr val="1B85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8" autoAdjust="0"/>
    <p:restoredTop sz="78026" autoAdjust="0"/>
  </p:normalViewPr>
  <p:slideViewPr>
    <p:cSldViewPr showGuides="1">
      <p:cViewPr varScale="1">
        <p:scale>
          <a:sx n="85" d="100"/>
          <a:sy n="85" d="100"/>
        </p:scale>
        <p:origin x="122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5" d="100"/>
          <a:sy n="105" d="100"/>
        </p:scale>
        <p:origin x="32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CF3FF1D-F075-41F6-B290-07919A4348D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567820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11FA9D6-BDC7-4110-B055-029A3A5CC98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615043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2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99756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Experimenty s různými ResNet architekturami – nejprve 18, potom 50, ale na to by bylo potřeba měnit víc architekturu dekodéru, takže nakonec 34 jako ideální zástupce</a:t>
            </a:r>
          </a:p>
          <a:p>
            <a:r>
              <a:rPr lang="cs-CZ"/>
              <a:t>Bridge – dva konvoluční bloky za sebou</a:t>
            </a:r>
          </a:p>
          <a:p>
            <a:r>
              <a:rPr lang="cs-CZ"/>
              <a:t>Dekodér – mezi bloky je up-convoluce která zvětší rozlišení a zmenší poček kanálů</a:t>
            </a:r>
          </a:p>
          <a:p>
            <a:r>
              <a:rPr lang="cs-CZ"/>
              <a:t>Block – convoluce 3x3 s paddingem 1 pro zachování rozlišení, normalizace následovaná ReLU, na bázi původní Unet architektury dekodéru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3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807354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68033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Training:</a:t>
            </a:r>
          </a:p>
          <a:p>
            <a:r>
              <a:rPr lang="cs-CZ"/>
              <a:t>50 epochs testing image sizes, batch sizes and training setup</a:t>
            </a:r>
          </a:p>
          <a:p>
            <a:r>
              <a:rPr lang="cs-CZ"/>
              <a:t>Purge of data and start of logging</a:t>
            </a:r>
          </a:p>
          <a:p>
            <a:endParaRPr lang="cs-CZ"/>
          </a:p>
          <a:p>
            <a:r>
              <a:rPr lang="cs-CZ"/>
              <a:t>3 epochs to test the final setup to be sure</a:t>
            </a:r>
          </a:p>
          <a:p>
            <a:r>
              <a:rPr lang="cs-CZ"/>
              <a:t>50 epochs (3 – 53)  – different sizes, 100 validation images, batch size 1, logging</a:t>
            </a:r>
          </a:p>
          <a:p>
            <a:r>
              <a:rPr lang="cs-CZ"/>
              <a:t>47 epochs (53 – </a:t>
            </a:r>
            <a:r>
              <a:rPr lang="cs-CZ" sz="1400"/>
              <a:t>100)</a:t>
            </a:r>
            <a:r>
              <a:rPr lang="cs-CZ"/>
              <a:t> - different sizes, 500 validation images, batch size 1, logging</a:t>
            </a:r>
          </a:p>
          <a:p>
            <a:r>
              <a:rPr lang="cs-CZ"/>
              <a:t>100 epochs (100 - 200) – error, only trained on small images</a:t>
            </a:r>
          </a:p>
          <a:p>
            <a:r>
              <a:rPr lang="cs-CZ"/>
              <a:t>10 epochs (200 – 210) – trying to fix the error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5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99414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Training:</a:t>
            </a:r>
          </a:p>
          <a:p>
            <a:r>
              <a:rPr lang="cs-CZ"/>
              <a:t>50 epochs testing image sizes, batch sizes and training setup</a:t>
            </a:r>
          </a:p>
          <a:p>
            <a:r>
              <a:rPr lang="cs-CZ"/>
              <a:t>Purge of data and start of logging</a:t>
            </a:r>
          </a:p>
          <a:p>
            <a:endParaRPr lang="cs-CZ"/>
          </a:p>
          <a:p>
            <a:r>
              <a:rPr lang="cs-CZ"/>
              <a:t>3 epochs to test the final setup to be sure</a:t>
            </a:r>
          </a:p>
          <a:p>
            <a:r>
              <a:rPr lang="cs-CZ"/>
              <a:t>50 epochs (3 – 53)  – different sizes, 100 validation images, batch size 1, logging</a:t>
            </a:r>
          </a:p>
          <a:p>
            <a:r>
              <a:rPr lang="cs-CZ"/>
              <a:t>47 epochs (53 – </a:t>
            </a:r>
            <a:r>
              <a:rPr lang="cs-CZ" sz="1400"/>
              <a:t>100)</a:t>
            </a:r>
            <a:r>
              <a:rPr lang="cs-CZ"/>
              <a:t> - different sizes, 500 validation images, batch size 1, logging</a:t>
            </a:r>
          </a:p>
          <a:p>
            <a:r>
              <a:rPr lang="cs-CZ"/>
              <a:t>100 epochs (100 - 200) – error, only trained on small images</a:t>
            </a:r>
          </a:p>
          <a:p>
            <a:r>
              <a:rPr lang="cs-CZ"/>
              <a:t>10 epochs (200 – 210) – trying to fix the error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6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011939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Training:</a:t>
            </a:r>
          </a:p>
          <a:p>
            <a:r>
              <a:rPr lang="cs-CZ"/>
              <a:t>50 epochs testing image sizes, batch sizes and training setup</a:t>
            </a:r>
          </a:p>
          <a:p>
            <a:r>
              <a:rPr lang="cs-CZ"/>
              <a:t>Purge of data and start of logging</a:t>
            </a:r>
          </a:p>
          <a:p>
            <a:endParaRPr lang="cs-CZ"/>
          </a:p>
          <a:p>
            <a:r>
              <a:rPr lang="cs-CZ"/>
              <a:t>3 epochs to test the final setup to be sure</a:t>
            </a:r>
          </a:p>
          <a:p>
            <a:r>
              <a:rPr lang="cs-CZ"/>
              <a:t>50 epochs (3 – 53)  – different sizes, 100 validation images, batch size 1, logging</a:t>
            </a:r>
          </a:p>
          <a:p>
            <a:r>
              <a:rPr lang="cs-CZ"/>
              <a:t>47 epochs (53 – </a:t>
            </a:r>
            <a:r>
              <a:rPr lang="cs-CZ" sz="1400"/>
              <a:t>100)</a:t>
            </a:r>
            <a:r>
              <a:rPr lang="cs-CZ"/>
              <a:t> - different sizes, 500 validation images, batch size 1, logging</a:t>
            </a:r>
          </a:p>
          <a:p>
            <a:r>
              <a:rPr lang="cs-CZ"/>
              <a:t>100 epochs (100 - 200) – error, only trained on small images</a:t>
            </a:r>
          </a:p>
          <a:p>
            <a:r>
              <a:rPr lang="cs-CZ"/>
              <a:t>10 epochs (200 – 210) – trying to fix the error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7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264605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Training:</a:t>
            </a:r>
          </a:p>
          <a:p>
            <a:r>
              <a:rPr lang="cs-CZ"/>
              <a:t>50 epochs testing image sizes, batch sizes and training setup</a:t>
            </a:r>
          </a:p>
          <a:p>
            <a:r>
              <a:rPr lang="cs-CZ"/>
              <a:t>Purge of data and start of logging</a:t>
            </a:r>
          </a:p>
          <a:p>
            <a:endParaRPr lang="cs-CZ"/>
          </a:p>
          <a:p>
            <a:r>
              <a:rPr lang="cs-CZ"/>
              <a:t>3 epochs to test the final setup to be sure</a:t>
            </a:r>
          </a:p>
          <a:p>
            <a:r>
              <a:rPr lang="cs-CZ"/>
              <a:t>50 epochs (3 – 53)  – different sizes, 100 validation images, batch size 1, logging</a:t>
            </a:r>
          </a:p>
          <a:p>
            <a:r>
              <a:rPr lang="cs-CZ"/>
              <a:t>47 epochs (53 – </a:t>
            </a:r>
            <a:r>
              <a:rPr lang="cs-CZ" sz="1400"/>
              <a:t>100)</a:t>
            </a:r>
            <a:r>
              <a:rPr lang="cs-CZ"/>
              <a:t> - different sizes, 500 validation images, batch size 1, logging</a:t>
            </a:r>
          </a:p>
          <a:p>
            <a:r>
              <a:rPr lang="cs-CZ"/>
              <a:t>100 epochs (100 - 200) – error, only trained on small images</a:t>
            </a:r>
          </a:p>
          <a:p>
            <a:r>
              <a:rPr lang="cs-CZ"/>
              <a:t>10 epochs (200 – 210) – trying to fix the error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8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55935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Training:</a:t>
            </a:r>
          </a:p>
          <a:p>
            <a:r>
              <a:rPr lang="cs-CZ"/>
              <a:t>50 epochs testing image sizes, batch sizes and training setup</a:t>
            </a:r>
          </a:p>
          <a:p>
            <a:r>
              <a:rPr lang="cs-CZ"/>
              <a:t>Purge of data and start of logging</a:t>
            </a:r>
          </a:p>
          <a:p>
            <a:endParaRPr lang="cs-CZ"/>
          </a:p>
          <a:p>
            <a:r>
              <a:rPr lang="cs-CZ"/>
              <a:t>3 epochs to test the final setup to be sure</a:t>
            </a:r>
          </a:p>
          <a:p>
            <a:r>
              <a:rPr lang="cs-CZ"/>
              <a:t>50 epochs (3 – 53)  – different sizes, 100 validation images, batch size 1, logging</a:t>
            </a:r>
          </a:p>
          <a:p>
            <a:r>
              <a:rPr lang="cs-CZ"/>
              <a:t>47 epochs (53 – </a:t>
            </a:r>
            <a:r>
              <a:rPr lang="cs-CZ" sz="1400"/>
              <a:t>100)</a:t>
            </a:r>
            <a:r>
              <a:rPr lang="cs-CZ"/>
              <a:t> - different sizes, 500 validation images, batch size 1, logging</a:t>
            </a:r>
          </a:p>
          <a:p>
            <a:r>
              <a:rPr lang="cs-CZ"/>
              <a:t>100 epochs (100 - 200) – error, only trained on small images</a:t>
            </a:r>
          </a:p>
          <a:p>
            <a:r>
              <a:rPr lang="cs-CZ"/>
              <a:t>10 epochs (200 – 210) – trying to fix the error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9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264230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Training:</a:t>
            </a:r>
          </a:p>
          <a:p>
            <a:r>
              <a:rPr lang="cs-CZ"/>
              <a:t>50 epochs testing image sizes, batch sizes and training setup</a:t>
            </a:r>
          </a:p>
          <a:p>
            <a:r>
              <a:rPr lang="cs-CZ"/>
              <a:t>Purge of data and start of logging</a:t>
            </a:r>
          </a:p>
          <a:p>
            <a:endParaRPr lang="cs-CZ"/>
          </a:p>
          <a:p>
            <a:r>
              <a:rPr lang="cs-CZ"/>
              <a:t>3 epochs to test the final setup to be sure</a:t>
            </a:r>
          </a:p>
          <a:p>
            <a:r>
              <a:rPr lang="cs-CZ"/>
              <a:t>50 epochs (3 – 53)  – different sizes, 100 validation images, batch size 1, logging</a:t>
            </a:r>
          </a:p>
          <a:p>
            <a:r>
              <a:rPr lang="cs-CZ"/>
              <a:t>47 epochs (53 – </a:t>
            </a:r>
            <a:r>
              <a:rPr lang="cs-CZ" sz="1400"/>
              <a:t>100)</a:t>
            </a:r>
            <a:r>
              <a:rPr lang="cs-CZ"/>
              <a:t> - different sizes, 500 validation images, batch size 1, logging</a:t>
            </a:r>
          </a:p>
          <a:p>
            <a:r>
              <a:rPr lang="cs-CZ"/>
              <a:t>100 epochs (100 - 200) – error, only trained on small images</a:t>
            </a:r>
          </a:p>
          <a:p>
            <a:r>
              <a:rPr lang="cs-CZ"/>
              <a:t>10 epochs (200 – 210) – trying to fix the error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10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848466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ázek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719" y="5157192"/>
            <a:ext cx="4182937" cy="861868"/>
          </a:xfrm>
          <a:prstGeom prst="rect">
            <a:avLst/>
          </a:prstGeom>
        </p:spPr>
      </p:pic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0824676" y="6530975"/>
            <a:ext cx="65617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-6086" y="-26640"/>
            <a:ext cx="12198085" cy="3598863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>
              <a:effectLst>
                <a:reflection endPos="65000" dist="50800" dir="5400000" sy="-100000" algn="bl" rotWithShape="0"/>
              </a:effectLst>
            </a:endParaRPr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3621088"/>
            <a:ext cx="7464152" cy="1032048"/>
          </a:xfrm>
        </p:spPr>
        <p:txBody>
          <a:bodyPr/>
          <a:lstStyle>
            <a:lvl1pPr marL="0" indent="0" algn="r"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  <a:endParaRPr lang="cs-CZ" dirty="0"/>
          </a:p>
        </p:txBody>
      </p:sp>
      <p:sp>
        <p:nvSpPr>
          <p:cNvPr id="24064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1958976"/>
            <a:ext cx="7464152" cy="1254125"/>
          </a:xfrm>
        </p:spPr>
        <p:txBody>
          <a:bodyPr/>
          <a:lstStyle>
            <a:lvl1pPr algn="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3860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C839148-7006-41C4-ABC2-D2A9F4595A63}" type="slidenum">
              <a:rPr lang="en-US" altLang="cs-CZ" smtClean="0"/>
              <a:pPr/>
              <a:t>‹#›</a:t>
            </a:fld>
            <a:endParaRPr lang="en-US" altLang="cs-CZ" dirty="0"/>
          </a:p>
        </p:txBody>
      </p:sp>
    </p:spTree>
    <p:extLst>
      <p:ext uri="{BB962C8B-B14F-4D97-AF65-F5344CB8AC3E}">
        <p14:creationId xmlns:p14="http://schemas.microsoft.com/office/powerpoint/2010/main" val="319850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9FEAC19-CD6C-4528-B09F-367B3931C207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7" name="Obdélník 6"/>
          <p:cNvSpPr/>
          <p:nvPr userDrawn="1"/>
        </p:nvSpPr>
        <p:spPr bwMode="auto">
          <a:xfrm>
            <a:off x="0" y="0"/>
            <a:ext cx="12192000" cy="5486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9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31800" y="765175"/>
            <a:ext cx="5657851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292851" y="765175"/>
            <a:ext cx="5659967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94AC346-A157-4EF4-A06B-3AB421B38C20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68728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944FB18-8EAF-4DED-A64D-DB11D411D2B0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837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896600" y="6524626"/>
            <a:ext cx="1102784" cy="3333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3D9E105-8003-4962-AFA0-54D4ABFA0C7D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9312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0" y="6497638"/>
            <a:ext cx="12192000" cy="360362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grpSp>
        <p:nvGrpSpPr>
          <p:cNvPr id="3" name="Skupina 2"/>
          <p:cNvGrpSpPr/>
          <p:nvPr userDrawn="1"/>
        </p:nvGrpSpPr>
        <p:grpSpPr>
          <a:xfrm>
            <a:off x="0" y="1"/>
            <a:ext cx="12192000" cy="547688"/>
            <a:chOff x="0" y="1"/>
            <a:chExt cx="12192000" cy="547688"/>
          </a:xfrm>
        </p:grpSpPr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0" y="512764"/>
              <a:ext cx="12192000" cy="34925"/>
            </a:xfrm>
            <a:prstGeom prst="rect">
              <a:avLst/>
            </a:prstGeom>
            <a:solidFill>
              <a:schemeClr val="tx1">
                <a:alpha val="10001"/>
              </a:schemeClr>
            </a:solidFill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0" y="1"/>
              <a:ext cx="12192000" cy="512763"/>
            </a:xfrm>
            <a:prstGeom prst="rect">
              <a:avLst/>
            </a:prstGeom>
            <a:solidFill>
              <a:schemeClr val="tx1">
                <a:alpha val="10001"/>
              </a:schemeClr>
            </a:solidFill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</p:grp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nadpisů</a:t>
            </a:r>
            <a:r>
              <a:rPr lang="en-US" altLang="cs-CZ" dirty="0"/>
              <a:t>.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1" y="765175"/>
            <a:ext cx="11521017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styly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textu</a:t>
            </a:r>
            <a:r>
              <a:rPr lang="en-US" altLang="cs-CZ" dirty="0"/>
              <a:t>.</a:t>
            </a:r>
          </a:p>
          <a:p>
            <a:pPr lvl="1"/>
            <a:r>
              <a:rPr lang="en-US" altLang="cs-CZ" dirty="0" err="1"/>
              <a:t>Druhá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2"/>
            <a:r>
              <a:rPr lang="en-US" altLang="cs-CZ" dirty="0" err="1"/>
              <a:t>Třetí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3"/>
            <a:r>
              <a:rPr lang="en-US" altLang="cs-CZ" dirty="0" err="1"/>
              <a:t>Čtvrtá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4"/>
            <a:r>
              <a:rPr lang="en-US" altLang="cs-CZ" dirty="0" err="1"/>
              <a:t>Pátá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3933" y="6524626"/>
            <a:ext cx="104648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Název práce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87867" y="115889"/>
            <a:ext cx="63500" cy="288925"/>
          </a:xfrm>
          <a:prstGeom prst="rect">
            <a:avLst/>
          </a:prstGeom>
          <a:solidFill>
            <a:srgbClr val="FE00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10752668" y="6530975"/>
            <a:ext cx="65617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746" y="44624"/>
            <a:ext cx="1085918" cy="434947"/>
          </a:xfrm>
          <a:prstGeom prst="rect">
            <a:avLst/>
          </a:prstGeom>
        </p:spPr>
      </p:pic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10777335" y="116632"/>
            <a:ext cx="63500" cy="288925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EF3E640F-7A27-4845-81D2-CD57137456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96600" y="6524626"/>
            <a:ext cx="1102784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89CB1D-D8FD-4B5B-916F-DD5C38307548}" type="slidenum">
              <a:rPr lang="en-US" altLang="cs-CZ" smtClean="0"/>
              <a:pPr/>
              <a:t>‹#›</a:t>
            </a:fld>
            <a:endParaRPr lang="en-US" alt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2" r:id="rId2"/>
    <p:sldLayoutId id="2147483703" r:id="rId3"/>
    <p:sldLayoutId id="2147483704" r:id="rId4"/>
    <p:sldLayoutId id="2147483705" r:id="rId5"/>
    <p:sldLayoutId id="2147483707" r:id="rId6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00A9E0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9376" y="1988840"/>
            <a:ext cx="7928506" cy="1254125"/>
          </a:xfrm>
        </p:spPr>
        <p:txBody>
          <a:bodyPr/>
          <a:lstStyle/>
          <a:p>
            <a:r>
              <a:rPr lang="cs-CZ" altLang="cs-CZ" sz="4400"/>
              <a:t>Image Depth Estimation</a:t>
            </a:r>
            <a:endParaRPr lang="cs-CZ" altLang="cs-CZ" sz="44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9376" y="3694113"/>
            <a:ext cx="7921674" cy="455612"/>
          </a:xfrm>
        </p:spPr>
        <p:txBody>
          <a:bodyPr/>
          <a:lstStyle/>
          <a:p>
            <a:r>
              <a:rPr lang="cs-CZ" altLang="cs-CZ" sz="2800" dirty="0"/>
              <a:t>Bc</a:t>
            </a:r>
            <a:r>
              <a:rPr lang="cs-CZ" altLang="cs-CZ" sz="2800"/>
              <a:t>. Samuel Kuchta</a:t>
            </a:r>
          </a:p>
          <a:p>
            <a:r>
              <a:rPr lang="cs-CZ" altLang="cs-CZ" sz="2800"/>
              <a:t>Bc. Marek Bahník</a:t>
            </a:r>
            <a:endParaRPr lang="cs-CZ" altLang="cs-CZ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Task definition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Estimate depth from single image</a:t>
            </a:r>
            <a:endParaRPr lang="cs-CZ" b="1"/>
          </a:p>
          <a:p>
            <a:r>
              <a:rPr lang="cs-CZ"/>
              <a:t>Design </a:t>
            </a:r>
            <a:r>
              <a:rPr lang="cs-CZ" b="1"/>
              <a:t>CNN </a:t>
            </a:r>
            <a:r>
              <a:rPr lang="cs-CZ"/>
              <a:t>based on </a:t>
            </a:r>
            <a:r>
              <a:rPr lang="cs-CZ" b="1"/>
              <a:t>ResNet </a:t>
            </a:r>
            <a:r>
              <a:rPr lang="cs-CZ"/>
              <a:t>and </a:t>
            </a:r>
            <a:r>
              <a:rPr lang="cs-CZ" b="1"/>
              <a:t>U-Net</a:t>
            </a:r>
          </a:p>
          <a:p>
            <a:r>
              <a:rPr lang="cs-CZ"/>
              <a:t>Train the </a:t>
            </a:r>
            <a:r>
              <a:rPr lang="cs-CZ" b="1"/>
              <a:t>CNN</a:t>
            </a:r>
            <a:r>
              <a:rPr lang="cs-CZ"/>
              <a:t> on relevant data</a:t>
            </a:r>
          </a:p>
          <a:p>
            <a:r>
              <a:rPr lang="cs-CZ"/>
              <a:t>Evaluate the results</a:t>
            </a:r>
          </a:p>
          <a:p>
            <a:endParaRPr lang="cs-CZ" b="1"/>
          </a:p>
          <a:p>
            <a:endParaRPr lang="cs-CZ" b="1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2</a:t>
            </a:fld>
            <a:endParaRPr lang="en-US" altLang="cs-CZ" dirty="0"/>
          </a:p>
        </p:txBody>
      </p:sp>
    </p:spTree>
    <p:extLst>
      <p:ext uri="{BB962C8B-B14F-4D97-AF65-F5344CB8AC3E}">
        <p14:creationId xmlns:p14="http://schemas.microsoft.com/office/powerpoint/2010/main" val="401494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Architecture</a:t>
            </a:r>
            <a:endParaRPr lang="cs-CZ" dirty="0"/>
          </a:p>
        </p:txBody>
      </p:sp>
      <p:pic>
        <p:nvPicPr>
          <p:cNvPr id="7" name="Content Placeholder 6" descr="A black background with white text and numbers&#10;&#10;Description automatically generated">
            <a:extLst>
              <a:ext uri="{FF2B5EF4-FFF2-40B4-BE49-F238E27FC236}">
                <a16:creationId xmlns:a16="http://schemas.microsoft.com/office/drawing/2014/main" id="{CCFE8B42-F2E9-401D-81B6-7689C5684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3333005"/>
            <a:ext cx="6677025" cy="278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3</a:t>
            </a:fld>
            <a:endParaRPr lang="en-US" altLang="cs-CZ" dirty="0"/>
          </a:p>
        </p:txBody>
      </p:sp>
      <p:pic>
        <p:nvPicPr>
          <p:cNvPr id="9" name="Picture 8" descr="A black and purple background with white squares&#10;&#10;Description automatically generated">
            <a:extLst>
              <a:ext uri="{FF2B5EF4-FFF2-40B4-BE49-F238E27FC236}">
                <a16:creationId xmlns:a16="http://schemas.microsoft.com/office/drawing/2014/main" id="{84145A47-95AD-6606-938F-ADAEEF4EB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212" y="4414078"/>
            <a:ext cx="2849236" cy="1153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black background with white rectangles and colorful arrows&#10;&#10;Description automatically generated">
            <a:extLst>
              <a:ext uri="{FF2B5EF4-FFF2-40B4-BE49-F238E27FC236}">
                <a16:creationId xmlns:a16="http://schemas.microsoft.com/office/drawing/2014/main" id="{B83C1140-8284-CE02-EDB3-40277107E8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211" y="980728"/>
            <a:ext cx="2849237" cy="2352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202497-3D3E-01F0-28A0-E5BD9CDB7ADD}"/>
              </a:ext>
            </a:extLst>
          </p:cNvPr>
          <p:cNvSpPr txBox="1"/>
          <p:nvPr/>
        </p:nvSpPr>
        <p:spPr>
          <a:xfrm>
            <a:off x="431801" y="836712"/>
            <a:ext cx="775243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 </a:t>
            </a: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backbone </a:t>
            </a:r>
          </a:p>
          <a:p>
            <a:pPr marL="914400" lvl="1" indent="-457200"/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Started with </a:t>
            </a: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ResNet18</a:t>
            </a:r>
          </a:p>
          <a:p>
            <a:pPr marL="914400" lvl="1" indent="-457200"/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Ended up with </a:t>
            </a: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ResNet34</a:t>
            </a:r>
            <a:endParaRPr lang="cs-CZ" sz="26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/>
            <a:endParaRPr lang="cs-CZ" sz="26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/>
            <a:endParaRPr lang="cs-CZ" sz="26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/>
            <a:endParaRPr lang="en-GB" sz="26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04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31801" y="765175"/>
            <a:ext cx="5160143" cy="5330825"/>
          </a:xfrm>
        </p:spPr>
        <p:txBody>
          <a:bodyPr/>
          <a:lstStyle/>
          <a:p>
            <a:r>
              <a:rPr lang="cs-CZ" b="1"/>
              <a:t>CityScapes </a:t>
            </a:r>
            <a:r>
              <a:rPr lang="cs-CZ"/>
              <a:t>dataset</a:t>
            </a:r>
          </a:p>
          <a:p>
            <a:r>
              <a:rPr lang="cs-CZ" b="1"/>
              <a:t>5000 </a:t>
            </a:r>
            <a:r>
              <a:rPr lang="cs-CZ"/>
              <a:t>annotated images</a:t>
            </a:r>
          </a:p>
          <a:p>
            <a:r>
              <a:rPr lang="cs-CZ"/>
              <a:t>Imperfect ground truth</a:t>
            </a:r>
          </a:p>
          <a:p>
            <a:r>
              <a:rPr lang="cs-CZ" b="1"/>
              <a:t>MSE</a:t>
            </a:r>
            <a:r>
              <a:rPr lang="cs-CZ"/>
              <a:t> loss and </a:t>
            </a:r>
            <a:r>
              <a:rPr lang="cs-CZ" b="1"/>
              <a:t>ADAM</a:t>
            </a:r>
            <a:r>
              <a:rPr lang="cs-CZ"/>
              <a:t> optimizer</a:t>
            </a:r>
          </a:p>
          <a:p>
            <a:endParaRPr lang="cs-CZ" b="1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4</a:t>
            </a:fld>
            <a:endParaRPr lang="en-US" altLang="cs-CZ" dirty="0"/>
          </a:p>
        </p:txBody>
      </p:sp>
      <p:pic>
        <p:nvPicPr>
          <p:cNvPr id="7" name="Picture 6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B5D92491-7937-6CDA-FAEA-C10DDF7E7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672012"/>
            <a:ext cx="6436043" cy="351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4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</a:t>
            </a:r>
            <a:endParaRPr lang="cs-CZ" dirty="0"/>
          </a:p>
        </p:txBody>
      </p:sp>
      <p:pic>
        <p:nvPicPr>
          <p:cNvPr id="7" name="Content Placeholder 6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867AF5BB-A861-8A66-966C-098462AC0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200" y="1268105"/>
            <a:ext cx="7915600" cy="4321789"/>
          </a:xfrm>
        </p:spPr>
      </p:pic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5</a:t>
            </a:fld>
            <a:endParaRPr lang="en-US" altLang="cs-CZ" dirty="0"/>
          </a:p>
        </p:txBody>
      </p:sp>
    </p:spTree>
    <p:extLst>
      <p:ext uri="{BB962C8B-B14F-4D97-AF65-F5344CB8AC3E}">
        <p14:creationId xmlns:p14="http://schemas.microsoft.com/office/powerpoint/2010/main" val="191465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 progress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6</a:t>
            </a:fld>
            <a:endParaRPr lang="en-US" altLang="cs-CZ" dirty="0"/>
          </a:p>
        </p:txBody>
      </p:sp>
      <p:pic>
        <p:nvPicPr>
          <p:cNvPr id="8" name="Content Placeholder 7" descr="A black and white image of two cars&#10;&#10;Description automatically generated">
            <a:extLst>
              <a:ext uri="{FF2B5EF4-FFF2-40B4-BE49-F238E27FC236}">
                <a16:creationId xmlns:a16="http://schemas.microsoft.com/office/drawing/2014/main" id="{433107B6-711E-6DAE-C166-4E5AC86F2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283" y="2095466"/>
            <a:ext cx="4725059" cy="2372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road with cars on it&#10;&#10;Description automatically generated">
            <a:extLst>
              <a:ext uri="{FF2B5EF4-FFF2-40B4-BE49-F238E27FC236}">
                <a16:creationId xmlns:a16="http://schemas.microsoft.com/office/drawing/2014/main" id="{D74990C2-8AED-4936-90F1-013796297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58" y="2095466"/>
            <a:ext cx="4725059" cy="2372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695DDF-DCE7-03B9-7FD3-EB7C00416CD3}"/>
              </a:ext>
            </a:extLst>
          </p:cNvPr>
          <p:cNvSpPr txBox="1"/>
          <p:nvPr/>
        </p:nvSpPr>
        <p:spPr>
          <a:xfrm>
            <a:off x="2801634" y="4779361"/>
            <a:ext cx="65887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ResNet18 </a:t>
            </a: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result on small (224x448) image 41 epochs</a:t>
            </a:r>
            <a:endParaRPr lang="en-GB" sz="26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85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 progress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7</a:t>
            </a:fld>
            <a:endParaRPr lang="en-US" altLang="cs-CZ" dirty="0"/>
          </a:p>
        </p:txBody>
      </p:sp>
      <p:pic>
        <p:nvPicPr>
          <p:cNvPr id="13" name="Content Placeholder 12" descr="A black and white image of a car with a mercedes logo&#10;&#10;Description automatically generated">
            <a:extLst>
              <a:ext uri="{FF2B5EF4-FFF2-40B4-BE49-F238E27FC236}">
                <a16:creationId xmlns:a16="http://schemas.microsoft.com/office/drawing/2014/main" id="{028B484A-2C99-B54E-8045-17B83B3CF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622" y="690147"/>
            <a:ext cx="4674755" cy="2332655"/>
          </a:xfrm>
        </p:spPr>
      </p:pic>
      <p:pic>
        <p:nvPicPr>
          <p:cNvPr id="15" name="Picture 14" descr="A close-up of two cars&#10;&#10;Description automatically generated">
            <a:extLst>
              <a:ext uri="{FF2B5EF4-FFF2-40B4-BE49-F238E27FC236}">
                <a16:creationId xmlns:a16="http://schemas.microsoft.com/office/drawing/2014/main" id="{1F631172-C741-0C1E-7928-1B8289A98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622" y="3058940"/>
            <a:ext cx="4674755" cy="233265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12C0E0-C8A8-FC03-6FC4-921C6BDBFAF2}"/>
              </a:ext>
            </a:extLst>
          </p:cNvPr>
          <p:cNvSpPr txBox="1"/>
          <p:nvPr/>
        </p:nvSpPr>
        <p:spPr>
          <a:xfrm>
            <a:off x="1391815" y="5480824"/>
            <a:ext cx="94083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ResNet18 </a:t>
            </a: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result on large image 47 epochs (top) and </a:t>
            </a: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ResNet34</a:t>
            </a: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mixed sizes after 3 epochs (bottom)</a:t>
            </a:r>
            <a:endParaRPr lang="en-GB" sz="26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67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 progress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8</a:t>
            </a:fld>
            <a:endParaRPr lang="en-US" altLang="cs-CZ" dirty="0"/>
          </a:p>
        </p:txBody>
      </p:sp>
      <p:pic>
        <p:nvPicPr>
          <p:cNvPr id="7" name="Content Placeholder 6" descr="A car with a mercedes logo&#10;&#10;Description automatically generated">
            <a:extLst>
              <a:ext uri="{FF2B5EF4-FFF2-40B4-BE49-F238E27FC236}">
                <a16:creationId xmlns:a16="http://schemas.microsoft.com/office/drawing/2014/main" id="{FF1B15E7-3CDF-F95B-415F-D68D65FF6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795" y="2276872"/>
            <a:ext cx="3672409" cy="1832495"/>
          </a:xfrm>
        </p:spPr>
      </p:pic>
      <p:pic>
        <p:nvPicPr>
          <p:cNvPr id="9" name="Picture 8" descr="A close-up of a car&#10;&#10;Description automatically generated">
            <a:extLst>
              <a:ext uri="{FF2B5EF4-FFF2-40B4-BE49-F238E27FC236}">
                <a16:creationId xmlns:a16="http://schemas.microsoft.com/office/drawing/2014/main" id="{B088F434-A278-C521-5D9B-87DDAEF2E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976" y="2280597"/>
            <a:ext cx="3672408" cy="1828770"/>
          </a:xfrm>
          <a:prstGeom prst="rect">
            <a:avLst/>
          </a:prstGeom>
        </p:spPr>
      </p:pic>
      <p:pic>
        <p:nvPicPr>
          <p:cNvPr id="16" name="Picture 15" descr="A close-up of two cars&#10;&#10;Description automatically generated">
            <a:extLst>
              <a:ext uri="{FF2B5EF4-FFF2-40B4-BE49-F238E27FC236}">
                <a16:creationId xmlns:a16="http://schemas.microsoft.com/office/drawing/2014/main" id="{1530B644-9014-44C2-AC4D-B55FCF8B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7" y="2280572"/>
            <a:ext cx="3672410" cy="18324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CA6C4C-F2AF-AB94-5AFF-966D6A5B60FB}"/>
              </a:ext>
            </a:extLst>
          </p:cNvPr>
          <p:cNvSpPr txBox="1"/>
          <p:nvPr/>
        </p:nvSpPr>
        <p:spPr>
          <a:xfrm>
            <a:off x="192617" y="4132071"/>
            <a:ext cx="118067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ResNet34 </a:t>
            </a: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with mixed images after (a) 3 epochs (b) 53 epochs (c) 100 epochs</a:t>
            </a:r>
            <a:endParaRPr lang="en-GB" sz="26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CCBBB8-A5C2-7A01-E064-273CCB553675}"/>
              </a:ext>
            </a:extLst>
          </p:cNvPr>
          <p:cNvSpPr txBox="1"/>
          <p:nvPr/>
        </p:nvSpPr>
        <p:spPr>
          <a:xfrm>
            <a:off x="1812798" y="1881713"/>
            <a:ext cx="4320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GB" sz="2600" b="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04982-1F95-1FE7-2E57-668C7163C6FD}"/>
              </a:ext>
            </a:extLst>
          </p:cNvPr>
          <p:cNvSpPr txBox="1"/>
          <p:nvPr/>
        </p:nvSpPr>
        <p:spPr>
          <a:xfrm>
            <a:off x="5879976" y="1881712"/>
            <a:ext cx="4320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GB" sz="2600" b="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741F4D-D225-6863-2E44-64864B7066F7}"/>
              </a:ext>
            </a:extLst>
          </p:cNvPr>
          <p:cNvSpPr txBox="1"/>
          <p:nvPr/>
        </p:nvSpPr>
        <p:spPr>
          <a:xfrm>
            <a:off x="9947156" y="1882337"/>
            <a:ext cx="4320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GB" sz="2600" b="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6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 progress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9</a:t>
            </a:fld>
            <a:endParaRPr lang="en-US" altLang="cs-C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8732C2-5ABA-5D9D-783A-E4F3F7358E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902"/>
          <a:stretch/>
        </p:blipFill>
        <p:spPr>
          <a:xfrm>
            <a:off x="190500" y="1773509"/>
            <a:ext cx="11811000" cy="23035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19B8CF-7FAE-1E53-DFB3-961FE55AD2BE}"/>
              </a:ext>
            </a:extLst>
          </p:cNvPr>
          <p:cNvSpPr txBox="1"/>
          <p:nvPr/>
        </p:nvSpPr>
        <p:spPr>
          <a:xfrm>
            <a:off x="216441" y="4077072"/>
            <a:ext cx="11811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cs-CZ" sz="2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ResNet34</a:t>
            </a:r>
            <a:r>
              <a:rPr lang="cs-CZ" sz="26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trained with small images after another 100 epochs tested on (a) small image (b) large image and (c) after 10 more epochs using different sizes</a:t>
            </a:r>
            <a:endParaRPr lang="en-GB" sz="26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3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Training results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Depth Estimation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10</a:t>
            </a:fld>
            <a:endParaRPr lang="en-US" altLang="cs-CZ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B9F7A0-156D-495D-0330-C505E41AE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139" y="4509119"/>
            <a:ext cx="3673414" cy="18385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5E0013-E08A-72ED-1D1D-C8257CEBD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179" y="2634761"/>
            <a:ext cx="3662348" cy="18385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C27DD22-948F-7B65-1956-A2B2DBBEE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717" y="4516500"/>
            <a:ext cx="3658667" cy="183117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4A9979F-9E56-A2A1-AE4D-C6D283EF7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717" y="2634763"/>
            <a:ext cx="3654968" cy="183117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924DC0-8214-D392-5213-D21A994471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94" y="4509120"/>
            <a:ext cx="3662347" cy="183855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528B721-1EA3-F51B-C005-78847DB5CA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94" y="779338"/>
            <a:ext cx="3662348" cy="183117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EE143F4-60AE-4096-BC00-FFCB576055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795" y="2634764"/>
            <a:ext cx="3662349" cy="18311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A2D99FA-3F1E-DD52-3E3E-1480A332EC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717" y="775015"/>
            <a:ext cx="3662351" cy="18311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2F16F4E-1315-7603-7284-3C7DE332E2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3139" y="779338"/>
            <a:ext cx="3669767" cy="183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2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29DB-7AAC-4684-A272-6E6B9134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Thank you for your attention!</a:t>
            </a:r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909E4-C327-4A50-855C-5DB03E7644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Image Depeth Estimation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0EDF5-3428-4D9A-97E8-BBE46E2AE9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 smtClean="0"/>
              <a:pPr/>
              <a:t>11</a:t>
            </a:fld>
            <a:endParaRPr lang="en-US" altLang="cs-CZ"/>
          </a:p>
        </p:txBody>
      </p:sp>
      <p:pic>
        <p:nvPicPr>
          <p:cNvPr id="6" name="Picture 5" descr="A black background with white text and numbers&#10;&#10;Description automatically generated">
            <a:extLst>
              <a:ext uri="{FF2B5EF4-FFF2-40B4-BE49-F238E27FC236}">
                <a16:creationId xmlns:a16="http://schemas.microsoft.com/office/drawing/2014/main" id="{089171B3-D579-01AE-9534-54DE66A87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06" y="670195"/>
            <a:ext cx="6677025" cy="278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9911BE9A-E0D4-FDD3-4681-52589C2FC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872" y="2780928"/>
            <a:ext cx="6412293" cy="3501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0281690"/>
      </p:ext>
    </p:extLst>
  </p:cSld>
  <p:clrMapOvr>
    <a:masterClrMapping/>
  </p:clrMapOvr>
</p:sld>
</file>

<file path=ppt/theme/theme1.xml><?xml version="1.0" encoding="utf-8"?>
<a:theme xmlns:a="http://schemas.openxmlformats.org/drawing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None/>
          <a:tabLst/>
          <a:defRPr kumimoji="0" sz="2400" b="0" i="0" u="none" strike="noStrike" cap="none" normalizeH="0" baseline="0" dirty="0" err="1" smtClean="0">
            <a:ln>
              <a:solidFill>
                <a:schemeClr val="accent6">
                  <a:lumMod val="50000"/>
                </a:schemeClr>
              </a:solidFill>
            </a:ln>
            <a:solidFill>
              <a:schemeClr val="accent6">
                <a:lumMod val="50000"/>
              </a:schemeClr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buNone/>
          <a:defRPr sz="2600" b="0" dirty="0" err="1" smtClean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a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T slides 16×9" id="{B590956F-A7F1-43E2-93A5-5BD167D239B1}" vid="{8AE2544D-ADF6-4D5E-BE2A-707A22119D64}"/>
    </a:ext>
  </a:ext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obhajoba</Template>
  <TotalTime>119</TotalTime>
  <Words>871</Words>
  <Application>Microsoft Office PowerPoint</Application>
  <PresentationFormat>Widescreen</PresentationFormat>
  <Paragraphs>119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Tahoma</vt:lpstr>
      <vt:lpstr>101021 FIT Calibri</vt:lpstr>
      <vt:lpstr>Image Depth Estimation</vt:lpstr>
      <vt:lpstr>Task definition</vt:lpstr>
      <vt:lpstr>Architecture</vt:lpstr>
      <vt:lpstr>Training </vt:lpstr>
      <vt:lpstr>Training</vt:lpstr>
      <vt:lpstr>Training progress</vt:lpstr>
      <vt:lpstr>Training progress</vt:lpstr>
      <vt:lpstr>Training progress</vt:lpstr>
      <vt:lpstr>Training progress</vt:lpstr>
      <vt:lpstr>Training results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depth estimation</dc:title>
  <dc:creator>Bahník Marek (214982)</dc:creator>
  <cp:lastModifiedBy>Bahník Marek (214982)</cp:lastModifiedBy>
  <cp:revision>16</cp:revision>
  <dcterms:created xsi:type="dcterms:W3CDTF">2024-05-15T17:08:45Z</dcterms:created>
  <dcterms:modified xsi:type="dcterms:W3CDTF">2024-05-16T12:36:07Z</dcterms:modified>
</cp:coreProperties>
</file>